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amsung Sharp Sans"/>
              </a:rPr>
              <a:t>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114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Samsung Sharp Sans"/>
              </a:rPr>
              <a:t>UNIVERSIDAD DE MÁLAGA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411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amsung Sharp Sans"/>
              </a:rPr>
              <a:t>SAMSUNG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72C4"/>
                </a:solidFill>
                <a:latin typeface="Samsung Sharp Sans"/>
              </a:rPr>
              <a:t>Samsung Innovation Campus |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4546A"/>
                </a:solidFill>
                <a:latin typeface="Samsung Sharp Sans"/>
              </a:rPr>
              <a:t>AccessAI</a:t>
            </a:r>
            <a:br/>
            <a:r>
              <a:rPr sz="2800" b="1">
                <a:solidFill>
                  <a:srgbClr val="44546A"/>
                </a:solidFill>
                <a:latin typeface="Samsung Sharp Sans"/>
              </a:rPr>
              <a:t>AI-Based Urban Accessibility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4546A"/>
                </a:solidFill>
                <a:latin typeface="Samsung Sharp Sans"/>
              </a:rPr>
              <a:t>Vision AI prototype for detecting sidewalks, ramps and urban accessibility barriers.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554480"/>
            <a:ext cx="2560320" cy="210312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20574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amsung Sharp Sans"/>
              </a:rPr>
              <a:t>YOLOv8n</a:t>
            </a:r>
            <a:br/>
            <a:r>
              <a:rPr sz="1800" b="1">
                <a:solidFill>
                  <a:srgbClr val="FFFFFF"/>
                </a:solidFill>
                <a:latin typeface="Samsung Sharp Sans"/>
              </a:rPr>
              <a:t>+ Vision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546A"/>
                </a:solidFill>
                <a:latin typeface="Samsung Sharp Sans"/>
              </a:rPr>
              <a:t>ONCE | Universidad de Málaga | Samsung Innovation Campus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Samsung Sharp Sans"/>
              </a:rPr>
              <a:t>1. 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546A"/>
                </a:solidFill>
                <a:latin typeface="Samsung Sharp Sans"/>
              </a:rPr>
              <a:t>Urban accessibility is often hidden behind maps that look accessible but still include barriers.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120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21208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64208"/>
            <a:ext cx="4882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4882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Many sidewalks appear accessible in maps, but people with reduced mobility may face barriers such as missing ramps, uneven surfaces, elevated curbs, or obstacles in public spaces.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530352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664208"/>
            <a:ext cx="4974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103120"/>
            <a:ext cx="497433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Develop an AI prototype to detect accessibility-related elements in urban images and support future tools for safer and easier navigation.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44546A"/>
                </a:solidFill>
                <a:latin typeface="Samsung Sharp Sans"/>
              </a:rPr>
              <a:t>Initial scope: sidewalks and access ramps.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44546A"/>
                </a:solidFill>
                <a:latin typeface="Samsung Sharp Sans"/>
              </a:rPr>
              <a:t>Future extension: curbs, obstacles, stairs and geolocated accessibility 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Samsung Sharp Sans"/>
              </a:rPr>
              <a:t>2. Data and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12064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72768"/>
            <a:ext cx="4791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11680"/>
            <a:ext cx="4791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Project Sidewalk</a:t>
            </a:r>
            <a:br/>
            <a:r>
              <a:rPr sz="1200">
                <a:solidFill>
                  <a:srgbClr val="44546A"/>
                </a:solidFill>
                <a:latin typeface="Samsung One 400"/>
              </a:rPr>
              <a:t>Sidewalk Accessibility</a:t>
            </a:r>
            <a:br/>
            <a:r>
              <a:rPr sz="1200">
                <a:solidFill>
                  <a:srgbClr val="44546A"/>
                </a:solidFill>
                <a:latin typeface="Samsung One 400"/>
              </a:rPr>
              <a:t>Cityscapes</a:t>
            </a:r>
            <a:br/>
            <a:r>
              <a:rPr sz="1200">
                <a:solidFill>
                  <a:srgbClr val="44546A"/>
                </a:solidFill>
                <a:latin typeface="Samsung One 400"/>
              </a:rPr>
              <a:t>Review of image quality, class balance, annotation quality, and object density.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30352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572768"/>
            <a:ext cx="4974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497433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Supervised learning with computer vision.</a:t>
            </a:r>
            <a:br/>
            <a:r>
              <a:rPr sz="1200">
                <a:solidFill>
                  <a:srgbClr val="44546A"/>
                </a:solidFill>
                <a:latin typeface="Samsung One 400"/>
              </a:rPr>
              <a:t>1) Data cleaning and split.</a:t>
            </a:r>
            <a:br/>
            <a:r>
              <a:rPr sz="1200">
                <a:solidFill>
                  <a:srgbClr val="44546A"/>
                </a:solidFill>
                <a:latin typeface="Samsung One 400"/>
              </a:rPr>
              <a:t>2) Model training and validation.</a:t>
            </a:r>
            <a:br/>
            <a:r>
              <a:rPr sz="1200">
                <a:solidFill>
                  <a:srgbClr val="44546A"/>
                </a:solidFill>
                <a:latin typeface="Samsung One 400"/>
              </a:rPr>
              <a:t>3) YOLOv8n object detection.</a:t>
            </a:r>
            <a:br/>
            <a:r>
              <a:rPr sz="1200">
                <a:solidFill>
                  <a:srgbClr val="44546A"/>
                </a:solidFill>
                <a:latin typeface="Samsung One 400"/>
              </a:rPr>
              <a:t>4) Metrics: precision, recall, F1, mAP.</a:t>
            </a:r>
            <a:br/>
            <a:r>
              <a:rPr sz="1200">
                <a:solidFill>
                  <a:srgbClr val="44546A"/>
                </a:solidFill>
                <a:latin typeface="Samsung One 400"/>
              </a:rPr>
              <a:t>5) Annotated prototype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Samsung Sharp Sans"/>
              </a:rPr>
              <a:t>3. Workflow and System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1828800" cy="1097280"/>
          </a:xfrm>
          <a:prstGeom prst="round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amsung Sharp Sans"/>
              </a:rPr>
              <a:t>Data</a:t>
            </a:r>
            <a:br/>
            <a:r>
              <a:rPr sz="1500" b="1">
                <a:solidFill>
                  <a:srgbClr val="FFFFFF"/>
                </a:solidFill>
                <a:latin typeface="Samsung Sharp Sans"/>
              </a:rPr>
              <a:t>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103120"/>
            <a:ext cx="2011680" cy="1097280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amsung Sharp Sans"/>
              </a:rPr>
              <a:t>Data</a:t>
            </a:r>
            <a:br/>
            <a:r>
              <a:rPr sz="1500" b="1">
                <a:solidFill>
                  <a:srgbClr val="FFFFFF"/>
                </a:solidFill>
                <a:latin typeface="Samsung Sharp Sans"/>
              </a:rPr>
              <a:t>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103120"/>
            <a:ext cx="1828800" cy="109728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amsung Sharp Sans"/>
              </a:rPr>
              <a:t>Model</a:t>
            </a:r>
            <a:br/>
            <a:r>
              <a:rPr sz="1500" b="1">
                <a:solidFill>
                  <a:srgbClr val="FFFFFF"/>
                </a:solidFill>
                <a:latin typeface="Samsung Sharp Sans"/>
              </a:rPr>
              <a:t>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103120"/>
            <a:ext cx="1645920" cy="109728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amsung Sharp Sans"/>
              </a:rPr>
              <a:t>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103120"/>
            <a:ext cx="1737360" cy="109728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amsung Sharp Sans"/>
              </a:rPr>
              <a:t>Prototype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651760"/>
            <a:ext cx="274320" cy="0"/>
          </a:xfrm>
          <a:prstGeom prst="rightArrow">
            <a:avLst/>
          </a:prstGeom>
          <a:solidFill>
            <a:srgbClr val="A5A5A5"/>
          </a:solidFill>
          <a:ln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754880" y="2651760"/>
            <a:ext cx="365760" cy="0"/>
          </a:xfrm>
          <a:prstGeom prst="rightArrow">
            <a:avLst/>
          </a:prstGeom>
          <a:solidFill>
            <a:srgbClr val="A5A5A5"/>
          </a:solidFill>
          <a:ln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949440" y="2651760"/>
            <a:ext cx="457200" cy="0"/>
          </a:xfrm>
          <a:prstGeom prst="rightArrow">
            <a:avLst/>
          </a:prstGeom>
          <a:solidFill>
            <a:srgbClr val="A5A5A5"/>
          </a:solidFill>
          <a:ln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052560" y="2651760"/>
            <a:ext cx="548640" cy="0"/>
          </a:xfrm>
          <a:prstGeom prst="rightArrow">
            <a:avLst/>
          </a:prstGeom>
          <a:solidFill>
            <a:srgbClr val="A5A5A5"/>
          </a:solidFill>
          <a:ln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931920"/>
            <a:ext cx="10241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931920"/>
            <a:ext cx="1024128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133088"/>
            <a:ext cx="9912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System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572000"/>
            <a:ext cx="99120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Input image -&gt; cleaning and labeling -&gt; YOLO detection -&gt; confidence threshold -&gt; annotated output with accessibility classes and bounding boxes -&gt; future mapping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Samsung Sharp Sans"/>
              </a:rPr>
              <a:t>4. Results and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747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47472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7276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Current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11680"/>
            <a:ext cx="31455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The project includes a Python demo that loads a YOLO model and processes an input image to identify accessibility-related urban elements.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371600"/>
            <a:ext cx="338328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572768"/>
            <a:ext cx="3054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01168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Main focus: sidewalks and access ramps.</a:t>
            </a:r>
            <a:br/>
            <a:r>
              <a:rPr sz="1200">
                <a:solidFill>
                  <a:srgbClr val="44546A"/>
                </a:solidFill>
                <a:latin typeface="Samsung One 400"/>
              </a:rPr>
              <a:t>Potential expansion: stairs, obstacles, and poor surface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2918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29184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72768"/>
            <a:ext cx="2962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Demo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01168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Command example: python accessai_demo.py --image imagen.jpg</a:t>
            </a:r>
            <a:br/>
            <a:r>
              <a:rPr sz="1200">
                <a:solidFill>
                  <a:srgbClr val="44546A"/>
                </a:solidFill>
                <a:latin typeface="Samsung One 400"/>
              </a:rPr>
              <a:t>Output is an annotated image for visualization and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Samsung Sharp Sans"/>
              </a:rPr>
              <a:t>5. Impact and Future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7472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64208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Accomplishments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314553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The project defines a practical research and prototype path for urban accessibility detection using vision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63040"/>
            <a:ext cx="33832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463040"/>
            <a:ext cx="338328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664208"/>
            <a:ext cx="3054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10312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Supports safer public spaces and helps people with reduced mobility by identifying accessibility barriers more efficiently.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2004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200400" cy="10972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664208"/>
            <a:ext cx="28712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4546A"/>
                </a:solidFill>
                <a:latin typeface="Samsung Sharp Sans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103120"/>
            <a:ext cx="287121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4546A"/>
                </a:solidFill>
                <a:latin typeface="Samsung One 400"/>
              </a:rPr>
              <a:t>Expand datasets and labels. Improve detection of obstacles and ramps. Add geographic awareness and a user-facing interface.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