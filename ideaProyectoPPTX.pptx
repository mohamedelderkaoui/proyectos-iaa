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9902825"/>
  <p:notesSz cx="7559675" cy="10691800"/>
  <p:embeddedFontLst>
    <p:embeddedFont>
      <p:font typeface="Noto Sans"/>
      <p:regular r:id="rId11"/>
      <p:bold r:id="rId12"/>
      <p:italic r:id="rId13"/>
      <p:boldItalic r:id="rId14"/>
    </p:embeddedFont>
    <p:embeddedFont>
      <p:font typeface="Cantarell"/>
      <p:bold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Bq4Sghxgdy5gmduyWUG6zTvAQ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otoSans-regular.fntdata"/><Relationship Id="rId10" Type="http://schemas.openxmlformats.org/officeDocument/2006/relationships/slide" Target="slides/slide6.xml"/><Relationship Id="rId13" Type="http://schemas.openxmlformats.org/officeDocument/2006/relationships/font" Target="fonts/NotoSans-italic.fntdata"/><Relationship Id="rId12" Type="http://schemas.openxmlformats.org/officeDocument/2006/relationships/font" Target="fonts/Noto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Cantarell-bold.fntdata"/><Relationship Id="rId14" Type="http://schemas.openxmlformats.org/officeDocument/2006/relationships/font" Target="fonts/NotoSans-boldItalic.fntdata"/><Relationship Id="rId17" Type="http://customschemas.google.com/relationships/presentationmetadata" Target="metadata"/><Relationship Id="rId16" Type="http://schemas.openxmlformats.org/officeDocument/2006/relationships/font" Target="fonts/Cantarell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ont Cover" type="blank">
  <p:cSld name="BLANK">
    <p:bg>
      <p:bgPr>
        <a:solidFill>
          <a:srgbClr val="F2F2F2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900720" cy="685584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8"/>
          <p:cNvSpPr/>
          <p:nvPr/>
        </p:nvSpPr>
        <p:spPr>
          <a:xfrm>
            <a:off x="449640" y="450000"/>
            <a:ext cx="1279800" cy="195840"/>
          </a:xfrm>
          <a:custGeom>
            <a:rect b="b" l="l" r="r" t="t"/>
            <a:pathLst>
              <a:path extrusionOk="0" h="334" w="2179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96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5640" y="6141240"/>
            <a:ext cx="1369440" cy="4478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8"/>
          <p:cNvSpPr/>
          <p:nvPr/>
        </p:nvSpPr>
        <p:spPr>
          <a:xfrm>
            <a:off x="990000" y="4320000"/>
            <a:ext cx="5830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Artificial Intelligence Course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8"/>
          <p:cNvSpPr/>
          <p:nvPr/>
        </p:nvSpPr>
        <p:spPr>
          <a:xfrm>
            <a:off x="724680" y="4320000"/>
            <a:ext cx="51840" cy="35784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anchorCtr="0" anchor="ctr" bIns="45000" lIns="25900" spcFirstLastPara="1" rIns="259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8"/>
          <p:cNvSpPr txBox="1"/>
          <p:nvPr>
            <p:ph idx="1" type="body"/>
          </p:nvPr>
        </p:nvSpPr>
        <p:spPr>
          <a:xfrm>
            <a:off x="720000" y="3551760"/>
            <a:ext cx="6835680" cy="27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8"/>
          <p:cNvSpPr txBox="1"/>
          <p:nvPr>
            <p:ph type="title"/>
          </p:nvPr>
        </p:nvSpPr>
        <p:spPr>
          <a:xfrm>
            <a:off x="720000" y="1710000"/>
            <a:ext cx="5218920" cy="14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able of Contents">
  <p:cSld name="2_Table of Contents">
    <p:bg>
      <p:bgPr>
        <a:solidFill>
          <a:srgbClr val="FFFFF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900720" cy="68558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16;p9"/>
          <p:cNvCxnSpPr/>
          <p:nvPr/>
        </p:nvCxnSpPr>
        <p:spPr>
          <a:xfrm>
            <a:off x="449280" y="6424920"/>
            <a:ext cx="9002880" cy="216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9"/>
          <p:cNvSpPr/>
          <p:nvPr/>
        </p:nvSpPr>
        <p:spPr>
          <a:xfrm>
            <a:off x="8836200" y="6498000"/>
            <a:ext cx="61164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 u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9"/>
          <p:cNvSpPr/>
          <p:nvPr/>
        </p:nvSpPr>
        <p:spPr>
          <a:xfrm>
            <a:off x="449640" y="6498000"/>
            <a:ext cx="288648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9"/>
          <p:cNvSpPr txBox="1"/>
          <p:nvPr>
            <p:ph type="title"/>
          </p:nvPr>
        </p:nvSpPr>
        <p:spPr>
          <a:xfrm>
            <a:off x="449640" y="1440000"/>
            <a:ext cx="8539200" cy="48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" name="Google Shape;20;p9"/>
          <p:cNvSpPr txBox="1"/>
          <p:nvPr>
            <p:ph idx="1" type="body"/>
          </p:nvPr>
        </p:nvSpPr>
        <p:spPr>
          <a:xfrm>
            <a:off x="449640" y="450000"/>
            <a:ext cx="321840" cy="27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" name="Google Shape;21;p9"/>
          <p:cNvSpPr txBox="1"/>
          <p:nvPr>
            <p:ph idx="2" type="body"/>
          </p:nvPr>
        </p:nvSpPr>
        <p:spPr>
          <a:xfrm>
            <a:off x="789840" y="450000"/>
            <a:ext cx="6835680" cy="27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" name="Google Shape;22;p9"/>
          <p:cNvSpPr txBox="1"/>
          <p:nvPr>
            <p:ph idx="3" type="body"/>
          </p:nvPr>
        </p:nvSpPr>
        <p:spPr>
          <a:xfrm>
            <a:off x="9112680" y="480600"/>
            <a:ext cx="338400" cy="24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3" name="Google Shape;23;p9"/>
          <p:cNvSpPr txBox="1"/>
          <p:nvPr>
            <p:ph idx="4" type="body"/>
          </p:nvPr>
        </p:nvSpPr>
        <p:spPr>
          <a:xfrm>
            <a:off x="8740800" y="480600"/>
            <a:ext cx="46584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4" name="Google Shape;24;p9"/>
          <p:cNvSpPr txBox="1"/>
          <p:nvPr>
            <p:ph idx="5" type="body"/>
          </p:nvPr>
        </p:nvSpPr>
        <p:spPr>
          <a:xfrm>
            <a:off x="522360" y="2221560"/>
            <a:ext cx="8053200" cy="91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1922" lvl="0" marL="457200" marR="0" rtl="0" algn="l">
              <a:lnSpc>
                <a:spcPct val="128571"/>
              </a:lnSpc>
              <a:spcBef>
                <a:spcPts val="1001"/>
              </a:spcBef>
              <a:spcAft>
                <a:spcPts val="0"/>
              </a:spcAft>
              <a:buClr>
                <a:srgbClr val="262626"/>
              </a:buClr>
              <a:buSzPts val="147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marR="0" rtl="0" algn="l">
              <a:lnSpc>
                <a:spcPct val="138461"/>
              </a:lnSpc>
              <a:spcBef>
                <a:spcPts val="499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38461"/>
              </a:lnSpc>
              <a:spcBef>
                <a:spcPts val="499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62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38461"/>
              </a:lnSpc>
              <a:spcBef>
                <a:spcPts val="499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" name="Google Shape;25;p9"/>
          <p:cNvSpPr/>
          <p:nvPr/>
        </p:nvSpPr>
        <p:spPr>
          <a:xfrm>
            <a:off x="6846840" y="6498000"/>
            <a:ext cx="23472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st">
  <p:cSld name="last"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20"/>
            <a:ext cx="9897480" cy="685152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0"/>
          <p:cNvSpPr/>
          <p:nvPr/>
        </p:nvSpPr>
        <p:spPr>
          <a:xfrm>
            <a:off x="0" y="0"/>
            <a:ext cx="9897480" cy="6855840"/>
          </a:xfrm>
          <a:prstGeom prst="rect">
            <a:avLst/>
          </a:prstGeom>
          <a:solidFill>
            <a:srgbClr val="1428A0">
              <a:alpha val="90196"/>
            </a:srgbClr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960" u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0"/>
          <p:cNvSpPr/>
          <p:nvPr/>
        </p:nvSpPr>
        <p:spPr>
          <a:xfrm>
            <a:off x="449640" y="5677200"/>
            <a:ext cx="8998560" cy="72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ⓒ2023 SAMSUNG. All rights reserved.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Electronics Corporate Citizenship Office holds the copyright of book.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book is a literary property protected by copyright law so reprint and reproduction without permission are prohibited. 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 use this book other than the curriculum of Samsung Innovation Campus or to use the entire or part of this book, you must receive written consent from copyright holder.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" name="Google Shape;3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1960" y="3022920"/>
            <a:ext cx="2473920" cy="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0"/>
          <p:cNvSpPr/>
          <p:nvPr/>
        </p:nvSpPr>
        <p:spPr>
          <a:xfrm>
            <a:off x="449640" y="450000"/>
            <a:ext cx="1288440" cy="195840"/>
          </a:xfrm>
          <a:custGeom>
            <a:rect b="b" l="l" r="r" t="t"/>
            <a:pathLst>
              <a:path extrusionOk="0" h="334" w="2179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96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able of Contents"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Google Shape;33;p11"/>
          <p:cNvCxnSpPr/>
          <p:nvPr/>
        </p:nvCxnSpPr>
        <p:spPr>
          <a:xfrm>
            <a:off x="449280" y="6424920"/>
            <a:ext cx="9002880" cy="216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11"/>
          <p:cNvSpPr/>
          <p:nvPr/>
        </p:nvSpPr>
        <p:spPr>
          <a:xfrm>
            <a:off x="8836200" y="6498000"/>
            <a:ext cx="61164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 u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1"/>
          <p:cNvSpPr/>
          <p:nvPr/>
        </p:nvSpPr>
        <p:spPr>
          <a:xfrm>
            <a:off x="449640" y="6498000"/>
            <a:ext cx="288648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1"/>
          <p:cNvSpPr/>
          <p:nvPr/>
        </p:nvSpPr>
        <p:spPr>
          <a:xfrm>
            <a:off x="6846840" y="6498000"/>
            <a:ext cx="23472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ody">
  <p:cSld name="1_Body">
    <p:bg>
      <p:bgPr>
        <a:solidFill>
          <a:srgbClr val="F2F2F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900720" cy="685584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2"/>
          <p:cNvSpPr/>
          <p:nvPr/>
        </p:nvSpPr>
        <p:spPr>
          <a:xfrm>
            <a:off x="449640" y="450000"/>
            <a:ext cx="1279800" cy="195840"/>
          </a:xfrm>
          <a:custGeom>
            <a:rect b="b" l="l" r="r" t="t"/>
            <a:pathLst>
              <a:path extrusionOk="0" h="334" w="2179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96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" name="Google Shape;4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5640" y="6141240"/>
            <a:ext cx="1369440" cy="447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able of Contents2">
  <p:cSld name="2_Table of Contents2">
    <p:bg>
      <p:bgPr>
        <a:solidFill>
          <a:srgbClr val="FFFFF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440" y="0"/>
            <a:ext cx="9900720" cy="68558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" name="Google Shape;43;p13"/>
          <p:cNvCxnSpPr/>
          <p:nvPr/>
        </p:nvCxnSpPr>
        <p:spPr>
          <a:xfrm>
            <a:off x="449280" y="6424920"/>
            <a:ext cx="9002880" cy="216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13"/>
          <p:cNvSpPr/>
          <p:nvPr/>
        </p:nvSpPr>
        <p:spPr>
          <a:xfrm>
            <a:off x="8836200" y="6498000"/>
            <a:ext cx="61164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 u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3"/>
          <p:cNvSpPr/>
          <p:nvPr/>
        </p:nvSpPr>
        <p:spPr>
          <a:xfrm>
            <a:off x="449640" y="6498000"/>
            <a:ext cx="288648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3"/>
          <p:cNvSpPr/>
          <p:nvPr/>
        </p:nvSpPr>
        <p:spPr>
          <a:xfrm>
            <a:off x="990000" y="4157640"/>
            <a:ext cx="3561120" cy="320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AI Course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3"/>
          <p:cNvSpPr/>
          <p:nvPr/>
        </p:nvSpPr>
        <p:spPr>
          <a:xfrm>
            <a:off x="720000" y="2095200"/>
            <a:ext cx="57960" cy="175716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anchorCtr="0" anchor="ctr" bIns="45000" lIns="29150" spcFirstLastPara="1" rIns="2915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3"/>
          <p:cNvSpPr/>
          <p:nvPr/>
        </p:nvSpPr>
        <p:spPr>
          <a:xfrm>
            <a:off x="720000" y="4157640"/>
            <a:ext cx="57960" cy="32112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anchorCtr="0" anchor="ctr" bIns="45000" lIns="29150" spcFirstLastPara="1" rIns="2915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3"/>
          <p:cNvSpPr txBox="1"/>
          <p:nvPr>
            <p:ph type="title"/>
          </p:nvPr>
        </p:nvSpPr>
        <p:spPr>
          <a:xfrm>
            <a:off x="990000" y="2095200"/>
            <a:ext cx="5218920" cy="13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990000" y="3577680"/>
            <a:ext cx="6835680" cy="27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able of Contents">
  <p:cSld name="3_Table of Contents"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900720" cy="68558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" name="Google Shape;53;p14"/>
          <p:cNvCxnSpPr/>
          <p:nvPr/>
        </p:nvCxnSpPr>
        <p:spPr>
          <a:xfrm>
            <a:off x="449280" y="6424920"/>
            <a:ext cx="9002880" cy="216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14"/>
          <p:cNvSpPr/>
          <p:nvPr/>
        </p:nvSpPr>
        <p:spPr>
          <a:xfrm>
            <a:off x="8836200" y="6498000"/>
            <a:ext cx="61164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 u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4"/>
          <p:cNvSpPr/>
          <p:nvPr/>
        </p:nvSpPr>
        <p:spPr>
          <a:xfrm>
            <a:off x="449640" y="6498000"/>
            <a:ext cx="288648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6846840" y="6498000"/>
            <a:ext cx="23472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able of Contents2">
  <p:cSld name="3_Table of Contents2"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440" y="0"/>
            <a:ext cx="9900720" cy="68558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" name="Google Shape;59;p15"/>
          <p:cNvCxnSpPr/>
          <p:nvPr/>
        </p:nvCxnSpPr>
        <p:spPr>
          <a:xfrm>
            <a:off x="449280" y="6424920"/>
            <a:ext cx="9002880" cy="216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p15"/>
          <p:cNvSpPr/>
          <p:nvPr/>
        </p:nvSpPr>
        <p:spPr>
          <a:xfrm>
            <a:off x="8836200" y="6498000"/>
            <a:ext cx="61164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 u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449640" y="6498000"/>
            <a:ext cx="288648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 txBox="1"/>
          <p:nvPr>
            <p:ph type="title"/>
          </p:nvPr>
        </p:nvSpPr>
        <p:spPr>
          <a:xfrm>
            <a:off x="495000" y="273600"/>
            <a:ext cx="89103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495000" y="1604520"/>
            <a:ext cx="8910360" cy="397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8610" lvl="0" marL="457200" marR="0" rtl="0" algn="l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0035" lvl="2" marL="1371600" marR="0" rtl="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rtl="0" algn="l">
              <a:lnSpc>
                <a:spcPct val="9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lnSpc>
                <a:spcPct val="9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5750" lvl="6" marL="3200400" marR="0" rtl="0" algn="l">
              <a:lnSpc>
                <a:spcPct val="9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able of Contents">
  <p:cSld name="1_Table of Contents"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900720" cy="68558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66;p16"/>
          <p:cNvCxnSpPr/>
          <p:nvPr/>
        </p:nvCxnSpPr>
        <p:spPr>
          <a:xfrm>
            <a:off x="449280" y="6424920"/>
            <a:ext cx="9002880" cy="216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16"/>
          <p:cNvSpPr/>
          <p:nvPr/>
        </p:nvSpPr>
        <p:spPr>
          <a:xfrm>
            <a:off x="8836200" y="6498000"/>
            <a:ext cx="61164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 u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449640" y="6498000"/>
            <a:ext cx="288648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6846840" y="6498000"/>
            <a:ext cx="23472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">
  <p:cSld name="Body"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Google Shape;71;p17"/>
          <p:cNvCxnSpPr/>
          <p:nvPr/>
        </p:nvCxnSpPr>
        <p:spPr>
          <a:xfrm>
            <a:off x="449280" y="6424920"/>
            <a:ext cx="9002880" cy="216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17"/>
          <p:cNvSpPr/>
          <p:nvPr/>
        </p:nvSpPr>
        <p:spPr>
          <a:xfrm>
            <a:off x="8836200" y="6498000"/>
            <a:ext cx="61164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 u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7"/>
          <p:cNvSpPr/>
          <p:nvPr/>
        </p:nvSpPr>
        <p:spPr>
          <a:xfrm>
            <a:off x="449640" y="6498000"/>
            <a:ext cx="288648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" name="Google Shape;74;p17"/>
          <p:cNvCxnSpPr/>
          <p:nvPr/>
        </p:nvCxnSpPr>
        <p:spPr>
          <a:xfrm>
            <a:off x="449280" y="900000"/>
            <a:ext cx="9002880" cy="2160"/>
          </a:xfrm>
          <a:prstGeom prst="straightConnector1">
            <a:avLst/>
          </a:prstGeom>
          <a:noFill/>
          <a:ln cap="flat" cmpd="sng" w="15875">
            <a:solidFill>
              <a:srgbClr val="0924A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17"/>
          <p:cNvSpPr/>
          <p:nvPr/>
        </p:nvSpPr>
        <p:spPr>
          <a:xfrm>
            <a:off x="6846840" y="6498000"/>
            <a:ext cx="23472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 b="0" sz="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 txBox="1"/>
          <p:nvPr>
            <p:ph type="title"/>
          </p:nvPr>
        </p:nvSpPr>
        <p:spPr>
          <a:xfrm>
            <a:off x="640450" y="994025"/>
            <a:ext cx="52182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/>
              <a:t>ACCESSAI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640" y="3206470"/>
            <a:ext cx="2777761" cy="94428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"/>
          <p:cNvSpPr/>
          <p:nvPr/>
        </p:nvSpPr>
        <p:spPr>
          <a:xfrm>
            <a:off x="640438" y="2712550"/>
            <a:ext cx="68358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JMJ Team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"/>
          <p:cNvSpPr/>
          <p:nvPr/>
        </p:nvSpPr>
        <p:spPr>
          <a:xfrm>
            <a:off x="640450" y="1847575"/>
            <a:ext cx="68358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F7F7F"/>
                </a:solidFill>
              </a:rPr>
              <a:t>AI-Based Urban Accessibility Detection</a:t>
            </a:r>
            <a:endParaRPr b="1" sz="1800" u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 txBox="1"/>
          <p:nvPr>
            <p:ph type="title"/>
          </p:nvPr>
        </p:nvSpPr>
        <p:spPr>
          <a:xfrm>
            <a:off x="449640" y="1440000"/>
            <a:ext cx="8539200" cy="49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Cantarell"/>
              <a:buNone/>
            </a:pPr>
            <a:r>
              <a:rPr b="1" lang="en-US" sz="3200" u="none" strike="noStrike">
                <a:solidFill>
                  <a:srgbClr val="0C0C0C"/>
                </a:solidFill>
                <a:latin typeface="Cantarell"/>
                <a:ea typeface="Cantarell"/>
                <a:cs typeface="Cantarell"/>
                <a:sym typeface="Cantarell"/>
              </a:rPr>
              <a:t>Qué es </a:t>
            </a:r>
            <a:r>
              <a:rPr b="1" lang="en-US">
                <a:latin typeface="Cantarell"/>
                <a:ea typeface="Cantarell"/>
                <a:cs typeface="Cantarell"/>
                <a:sym typeface="Cantarell"/>
              </a:rPr>
              <a:t>ACCESSAI</a:t>
            </a:r>
            <a:endParaRPr b="0" sz="3200" u="none" strike="noStrik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 txBox="1"/>
          <p:nvPr>
            <p:ph idx="1" type="body"/>
          </p:nvPr>
        </p:nvSpPr>
        <p:spPr>
          <a:xfrm>
            <a:off x="449640" y="450000"/>
            <a:ext cx="321840" cy="2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1.1</a:t>
            </a:r>
            <a:endParaRPr b="0" i="0" sz="1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789840" y="450000"/>
            <a:ext cx="6835680" cy="27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Subtitle</a:t>
            </a:r>
            <a:endParaRPr b="0" i="0" sz="1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9112680" y="480600"/>
            <a:ext cx="338400" cy="24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6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 txBox="1"/>
          <p:nvPr>
            <p:ph idx="1" type="body"/>
          </p:nvPr>
        </p:nvSpPr>
        <p:spPr>
          <a:xfrm>
            <a:off x="8740800" y="480600"/>
            <a:ext cx="465840" cy="24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UNIT</a:t>
            </a:r>
            <a:endParaRPr b="0" i="0" sz="16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4873680" y="3303360"/>
            <a:ext cx="216000" cy="285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22720" y="2221920"/>
            <a:ext cx="8053200" cy="91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40" lvl="0" marL="17784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70"/>
              <a:buFont typeface="Noto Sans"/>
              <a:buChar char="•"/>
            </a:pPr>
            <a:r>
              <a:rPr b="1" lang="en-US" sz="1400" u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Sistema de visión artificial para evaluar la accesibilidad en entornos urbanos.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2520" lvl="1" marL="360360" marR="0" rtl="0" algn="l">
              <a:lnSpc>
                <a:spcPct val="138461"/>
              </a:lnSpc>
              <a:spcBef>
                <a:spcPts val="499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Noto Sans"/>
              <a:buChar char="•"/>
            </a:pPr>
            <a:r>
              <a:rPr b="0" i="0" lang="en-US" sz="1300" u="none" cap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YOLO: detecta y localiza obstáculos (escaleras, alcantarillas, aparcabicicletas, etc.).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2520" lvl="1" marL="360360" marR="0" rtl="0" algn="l">
              <a:lnSpc>
                <a:spcPct val="138461"/>
              </a:lnSpc>
              <a:spcBef>
                <a:spcPts val="499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Noto Sans"/>
              <a:buChar char="•"/>
            </a:pPr>
            <a:r>
              <a:rPr b="0" i="0" lang="en-US" sz="1300" u="none" cap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Dataset: ROD-Dataset (24.000+ imágenes anotadas, 25 clases de obstáculos urbanos).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2520" lvl="1" marL="360360" marR="0" rtl="0" algn="l">
              <a:lnSpc>
                <a:spcPct val="138461"/>
              </a:lnSpc>
              <a:spcBef>
                <a:spcPts val="499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Noto Sans"/>
              <a:buChar char="•"/>
            </a:pPr>
            <a:r>
              <a:rPr b="0" i="0" lang="en-US" sz="1300" u="none" cap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Demo: aplicar modelos a imágenes de nuestro entorno.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3000" y="3561480"/>
            <a:ext cx="5066640" cy="2738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449640" y="1440000"/>
            <a:ext cx="8539200" cy="49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Cantarell"/>
              <a:buNone/>
            </a:pPr>
            <a:r>
              <a:rPr b="1" lang="en-US" sz="3200" u="none" strike="noStrike">
                <a:solidFill>
                  <a:srgbClr val="0C0C0C"/>
                </a:solidFill>
                <a:latin typeface="Cantarell"/>
                <a:ea typeface="Cantarell"/>
                <a:cs typeface="Cantarell"/>
                <a:sym typeface="Cantarell"/>
              </a:rPr>
              <a:t>Planificación y organización de tareas</a:t>
            </a:r>
            <a:endParaRPr b="0" sz="3200" u="none" strike="noStrik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449640" y="450000"/>
            <a:ext cx="321840" cy="2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1.1</a:t>
            </a:r>
            <a:endParaRPr b="0" i="0" sz="1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 txBox="1"/>
          <p:nvPr>
            <p:ph idx="1" type="body"/>
          </p:nvPr>
        </p:nvSpPr>
        <p:spPr>
          <a:xfrm>
            <a:off x="789840" y="450000"/>
            <a:ext cx="6835680" cy="27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Subtitle</a:t>
            </a:r>
            <a:endParaRPr b="0" i="0" sz="1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9112680" y="480600"/>
            <a:ext cx="338400" cy="24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6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8740800" y="480600"/>
            <a:ext cx="465840" cy="24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UNIT</a:t>
            </a:r>
            <a:endParaRPr b="0" i="0" sz="16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4873680" y="3303360"/>
            <a:ext cx="216000" cy="285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540360" y="2146320"/>
            <a:ext cx="8053200" cy="91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40" lvl="0" marL="17784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70"/>
              <a:buFont typeface="Noto Sans"/>
              <a:buChar char="•"/>
            </a:pPr>
            <a:r>
              <a:rPr b="0" lang="en-US" sz="1400" u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Jessica Pozo Martín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2520" lvl="1" marL="360360" marR="0" rtl="0" algn="l">
              <a:lnSpc>
                <a:spcPct val="138461"/>
              </a:lnSpc>
              <a:spcBef>
                <a:spcPts val="499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Noto Sans"/>
              <a:buChar char="•"/>
            </a:pPr>
            <a:r>
              <a:rPr b="0" i="0" lang="en-US" sz="1300" u="none" cap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Búsqueda y análisis del dataset. Descarga, limpieza y preparación de imágenes. Análisis y selección de clases.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522720" y="3046320"/>
            <a:ext cx="8053200" cy="91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40" lvl="0" marL="17784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70"/>
              <a:buFont typeface="Noto Sans"/>
              <a:buChar char="•"/>
            </a:pPr>
            <a:r>
              <a:rPr b="0" lang="en-US" sz="1400" u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Juan Narros Barrachina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2520" lvl="1" marL="360360" marR="0" rtl="0" algn="l">
              <a:lnSpc>
                <a:spcPct val="138461"/>
              </a:lnSpc>
              <a:spcBef>
                <a:spcPts val="499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Noto Sans"/>
              <a:buChar char="•"/>
            </a:pPr>
            <a:r>
              <a:rPr b="0" i="0" lang="en-US" sz="1300" u="none" cap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Búsqueda y preparación del modelo. Entrenamiento de un primer prototipo, ajuste de hiperparámetros y evaluación de los resultados.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22720" y="3947400"/>
            <a:ext cx="8053200" cy="91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40" lvl="0" marL="17784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70"/>
              <a:buFont typeface="Noto Sans"/>
              <a:buChar char="•"/>
            </a:pPr>
            <a:r>
              <a:rPr b="0" lang="en-US" sz="1400" u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Mohamed Merzouk Bendoukha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2520" lvl="1" marL="360360" marR="0" rtl="0" algn="l">
              <a:lnSpc>
                <a:spcPct val="138461"/>
              </a:lnSpc>
              <a:spcBef>
                <a:spcPts val="499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Noto Sans"/>
              <a:buChar char="•"/>
            </a:pPr>
            <a:r>
              <a:rPr b="0" i="0" lang="en-US" sz="1300" u="none" cap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Preparación del segundo prototipo y ajuste del modelo. Evaluación del mismo mediante imágenes del propio entorno.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360000" y="5040000"/>
            <a:ext cx="1618200" cy="960840"/>
          </a:xfrm>
          <a:prstGeom prst="roundRect">
            <a:avLst>
              <a:gd fmla="val 16667" name="adj"/>
            </a:avLst>
          </a:prstGeom>
          <a:solidFill>
            <a:srgbClr val="1E346E"/>
          </a:solidFill>
          <a:ln cap="flat" cmpd="sng" w="9525">
            <a:solidFill>
              <a:srgbClr val="1E346E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r>
              <a:rPr b="1" lang="en-US" sz="16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Collection</a:t>
            </a:r>
            <a:endParaRPr b="0" sz="16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2340000" y="5400000"/>
            <a:ext cx="1618200" cy="898200"/>
          </a:xfrm>
          <a:prstGeom prst="roundRect">
            <a:avLst>
              <a:gd fmla="val 16667" name="adj"/>
            </a:avLst>
          </a:prstGeom>
          <a:solidFill>
            <a:srgbClr val="1A73E8"/>
          </a:solidFill>
          <a:ln cap="flat" cmpd="sng" w="9525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r>
              <a:rPr b="1" lang="en-US" sz="16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Preparation</a:t>
            </a:r>
            <a:endParaRPr b="0" sz="16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4320000" y="4977360"/>
            <a:ext cx="1618200" cy="960840"/>
          </a:xfrm>
          <a:prstGeom prst="roundRect">
            <a:avLst>
              <a:gd fmla="val 16667" name="adj"/>
            </a:avLst>
          </a:prstGeom>
          <a:solidFill>
            <a:srgbClr val="309A67"/>
          </a:solidFill>
          <a:ln cap="flat" cmpd="sng" w="9525">
            <a:solidFill>
              <a:srgbClr val="309A6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r>
              <a:rPr b="1" lang="en-US" sz="16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Training</a:t>
            </a:r>
            <a:endParaRPr b="0" sz="16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6300000" y="5400000"/>
            <a:ext cx="1378080" cy="898200"/>
          </a:xfrm>
          <a:prstGeom prst="roundRect">
            <a:avLst>
              <a:gd fmla="val 16667" name="adj"/>
            </a:avLst>
          </a:prstGeom>
          <a:solidFill>
            <a:srgbClr val="9F5FFF"/>
          </a:solidFill>
          <a:ln cap="flat" cmpd="sng" w="9525">
            <a:solidFill>
              <a:srgbClr val="9F5FFF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Evaluation</a:t>
            </a:r>
            <a:endParaRPr b="0" sz="16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074440" y="4860000"/>
            <a:ext cx="1463760" cy="898200"/>
          </a:xfrm>
          <a:prstGeom prst="roundRect">
            <a:avLst>
              <a:gd fmla="val 16667" name="adj"/>
            </a:avLst>
          </a:prstGeom>
          <a:solidFill>
            <a:srgbClr val="E8614C"/>
          </a:solidFill>
          <a:ln cap="flat" cmpd="sng" w="9525">
            <a:solidFill>
              <a:srgbClr val="E8614C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Prototype</a:t>
            </a:r>
            <a:endParaRPr b="0" sz="16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1974960" y="5580360"/>
            <a:ext cx="363600" cy="3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D5C7D"/>
          </a:solidFill>
          <a:ln cap="flat" cmpd="sng" w="9525">
            <a:solidFill>
              <a:srgbClr val="3D5C7D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3954600" y="5579640"/>
            <a:ext cx="363600" cy="3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D5C7D"/>
          </a:solidFill>
          <a:ln cap="flat" cmpd="sng" w="9525">
            <a:solidFill>
              <a:srgbClr val="3D5C7D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5934600" y="5579640"/>
            <a:ext cx="363600" cy="3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D5C7D"/>
          </a:solidFill>
          <a:ln cap="flat" cmpd="sng" w="9525">
            <a:solidFill>
              <a:srgbClr val="3D5C7D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7709040" y="5579640"/>
            <a:ext cx="363600" cy="3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D5C7D"/>
          </a:solidFill>
          <a:ln cap="flat" cmpd="sng" w="9525">
            <a:solidFill>
              <a:srgbClr val="3D5C7D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/>
          <p:nvPr>
            <p:ph type="title"/>
          </p:nvPr>
        </p:nvSpPr>
        <p:spPr>
          <a:xfrm>
            <a:off x="449640" y="1440000"/>
            <a:ext cx="8539200" cy="49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Cantarell"/>
              <a:buNone/>
            </a:pPr>
            <a:r>
              <a:rPr b="1" lang="en-US" sz="3200" u="none" strike="noStrike">
                <a:solidFill>
                  <a:srgbClr val="0C0C0C"/>
                </a:solidFill>
                <a:latin typeface="Cantarell"/>
                <a:ea typeface="Cantarell"/>
                <a:cs typeface="Cantarell"/>
                <a:sym typeface="Cantarell"/>
              </a:rPr>
              <a:t>¿Por qué este proyecto?</a:t>
            </a:r>
            <a:endParaRPr b="0" sz="3200" u="none" strike="noStrik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 txBox="1"/>
          <p:nvPr>
            <p:ph idx="1" type="body"/>
          </p:nvPr>
        </p:nvSpPr>
        <p:spPr>
          <a:xfrm>
            <a:off x="449640" y="450000"/>
            <a:ext cx="321840" cy="2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1.1</a:t>
            </a:r>
            <a:endParaRPr b="0" i="0" sz="1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 txBox="1"/>
          <p:nvPr>
            <p:ph idx="1" type="body"/>
          </p:nvPr>
        </p:nvSpPr>
        <p:spPr>
          <a:xfrm>
            <a:off x="789840" y="450000"/>
            <a:ext cx="6835680" cy="27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Subtitle</a:t>
            </a:r>
            <a:endParaRPr b="0" i="0" sz="1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/>
          <p:nvPr>
            <p:ph idx="1" type="body"/>
          </p:nvPr>
        </p:nvSpPr>
        <p:spPr>
          <a:xfrm>
            <a:off x="9112680" y="480600"/>
            <a:ext cx="338400" cy="24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6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>
            <p:ph idx="1" type="body"/>
          </p:nvPr>
        </p:nvSpPr>
        <p:spPr>
          <a:xfrm>
            <a:off x="8740800" y="480600"/>
            <a:ext cx="465840" cy="24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UNIT</a:t>
            </a:r>
            <a:endParaRPr b="0" i="0" sz="16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873680" y="3303360"/>
            <a:ext cx="216000" cy="285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522720" y="2221920"/>
            <a:ext cx="8053200" cy="91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2520" lvl="1" marL="360360" marR="0" rtl="0" algn="l">
              <a:lnSpc>
                <a:spcPct val="138461"/>
              </a:lnSpc>
              <a:spcBef>
                <a:spcPts val="499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Noto Sans"/>
              <a:buChar char="•"/>
            </a:pPr>
            <a:r>
              <a:rPr b="1" i="0" lang="en-US" sz="1300" u="none" cap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Continuidad lógica con el curso</a:t>
            </a:r>
            <a:r>
              <a:rPr b="0" i="0" lang="en-US" sz="1300" u="none" cap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: el proyecto se apoya en las tecnologías que hemos aprendido y da un paso adelante hacia la utilización de modelos preentrenados y datasets públicos disponibles.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2520" lvl="1" marL="360360" marR="0" rtl="0" algn="l">
              <a:lnSpc>
                <a:spcPct val="138461"/>
              </a:lnSpc>
              <a:spcBef>
                <a:spcPts val="499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Noto Sans"/>
              <a:buChar char="•"/>
            </a:pPr>
            <a:r>
              <a:rPr b="1" i="0" lang="en-US" sz="1300" u="none" cap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Impacto social inmediato y tangible</a:t>
            </a:r>
            <a:r>
              <a:rPr b="0" i="0" lang="en-US" sz="1300" u="none" cap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: No es una herramienta abstracta; es un sistema que analiza imágenes reales del entorno urbano y devuelve una información de utilidad pública.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2520" lvl="1" marL="360360" marR="0" rtl="0" algn="l">
              <a:lnSpc>
                <a:spcPct val="138461"/>
              </a:lnSpc>
              <a:spcBef>
                <a:spcPts val="499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Noto Sans"/>
              <a:buChar char="•"/>
            </a:pPr>
            <a:r>
              <a:rPr b="1" i="0" lang="en-US" sz="1300" u="none" cap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Demo clara</a:t>
            </a:r>
            <a:r>
              <a:rPr b="0" i="0" lang="en-US" sz="1300" u="none" cap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: imágenes de nuestro entorno más inmediato pueden servir para evaluar el sistema de  forma visual y comprensible para cualquier público.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2520" lvl="1" marL="360360" marR="0" rtl="0" algn="l">
              <a:lnSpc>
                <a:spcPct val="138461"/>
              </a:lnSpc>
              <a:spcBef>
                <a:spcPts val="499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Noto Sans"/>
              <a:buChar char="•"/>
            </a:pPr>
            <a:r>
              <a:rPr b="1" i="0" lang="en-US" sz="1300" u="none" cap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Flexibilidad y proyección</a:t>
            </a:r>
            <a:r>
              <a:rPr b="0" i="0" lang="en-US" sz="1300" u="none" cap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: el proyecto es lo suficientemente abierto como para ir ajustándolo según tiempo y necesidades. Además, ofrece posibilidades de futuro para integrarlo en herramientas de navegación.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/>
          <p:nvPr>
            <p:ph type="title"/>
          </p:nvPr>
        </p:nvSpPr>
        <p:spPr>
          <a:xfrm>
            <a:off x="449640" y="1440000"/>
            <a:ext cx="8539200" cy="49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Cantarell"/>
              <a:buNone/>
            </a:pPr>
            <a:r>
              <a:rPr b="1" lang="en-US" sz="3200" u="none" strike="noStrike">
                <a:solidFill>
                  <a:srgbClr val="0C0C0C"/>
                </a:solidFill>
                <a:latin typeface="Cantarell"/>
                <a:ea typeface="Cantarell"/>
                <a:cs typeface="Cantarell"/>
                <a:sym typeface="Cantarell"/>
              </a:rPr>
              <a:t>Interés social e impacto</a:t>
            </a:r>
            <a:endParaRPr b="0" sz="3200" u="none" strike="noStrik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 txBox="1"/>
          <p:nvPr>
            <p:ph idx="1" type="body"/>
          </p:nvPr>
        </p:nvSpPr>
        <p:spPr>
          <a:xfrm>
            <a:off x="449640" y="450000"/>
            <a:ext cx="321840" cy="2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1.1</a:t>
            </a:r>
            <a:endParaRPr b="0" i="0" sz="1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 txBox="1"/>
          <p:nvPr>
            <p:ph idx="1" type="body"/>
          </p:nvPr>
        </p:nvSpPr>
        <p:spPr>
          <a:xfrm>
            <a:off x="789840" y="450000"/>
            <a:ext cx="6835680" cy="27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Subtitle</a:t>
            </a:r>
            <a:endParaRPr b="0" i="0" sz="1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 txBox="1"/>
          <p:nvPr>
            <p:ph idx="1" type="body"/>
          </p:nvPr>
        </p:nvSpPr>
        <p:spPr>
          <a:xfrm>
            <a:off x="9112680" y="480600"/>
            <a:ext cx="338400" cy="24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6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 txBox="1"/>
          <p:nvPr>
            <p:ph idx="1" type="body"/>
          </p:nvPr>
        </p:nvSpPr>
        <p:spPr>
          <a:xfrm>
            <a:off x="8740800" y="480600"/>
            <a:ext cx="465840" cy="24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UNIT</a:t>
            </a:r>
            <a:endParaRPr b="0" i="0" sz="16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873680" y="3303360"/>
            <a:ext cx="216000" cy="285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22720" y="2221920"/>
            <a:ext cx="8053200" cy="91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40" lvl="0" marL="17784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70"/>
              <a:buFont typeface="Noto Sans"/>
              <a:buChar char="•"/>
            </a:pPr>
            <a:r>
              <a:rPr b="1" lang="en-US" sz="1400" u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Público objetivo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2520" lvl="1" marL="360360" marR="0" rtl="0" algn="l">
              <a:lnSpc>
                <a:spcPct val="138461"/>
              </a:lnSpc>
              <a:spcBef>
                <a:spcPts val="499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Noto Sans"/>
              <a:buChar char="•"/>
            </a:pPr>
            <a:r>
              <a:rPr b="0" i="0" lang="en-US" sz="1300" u="none" cap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Personas con movilidad reducida (sillas de ruedas, andadores).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2520" lvl="1" marL="360360" marR="0" rtl="0" algn="l">
              <a:lnSpc>
                <a:spcPct val="138461"/>
              </a:lnSpc>
              <a:spcBef>
                <a:spcPts val="499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Noto Sans"/>
              <a:buChar char="•"/>
            </a:pPr>
            <a:r>
              <a:rPr b="0" i="0" lang="en-US" sz="1300" u="none" cap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Personas mayores, personas con discapacidad visual.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2520" lvl="1" marL="360360" marR="0" rtl="0" algn="l">
              <a:lnSpc>
                <a:spcPct val="138461"/>
              </a:lnSpc>
              <a:spcBef>
                <a:spcPts val="499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Noto Sans"/>
              <a:buChar char="•"/>
            </a:pPr>
            <a:r>
              <a:rPr b="0" i="0" lang="en-US" sz="1300" u="none" cap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Familias con carritos de bebé, personas con lesiones temporales.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2520" lvl="1" marL="360360" marR="0" rtl="0" algn="l">
              <a:lnSpc>
                <a:spcPct val="138461"/>
              </a:lnSpc>
              <a:spcBef>
                <a:spcPts val="499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Noto Sans"/>
              <a:buChar char="•"/>
            </a:pPr>
            <a:r>
              <a:rPr b="0" i="0" lang="en-US" sz="1300" u="none" cap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En realidad, potencialmente todo el mundo.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540000" y="4140000"/>
            <a:ext cx="8053200" cy="912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40" lvl="0" marL="17784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70"/>
              <a:buFont typeface="Noto Sans"/>
              <a:buChar char="•"/>
            </a:pPr>
            <a:r>
              <a:rPr b="1" lang="en-US" sz="1400" u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Impacto potencial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2520" lvl="1" marL="360360" marR="0" rtl="0" algn="l">
              <a:lnSpc>
                <a:spcPct val="138461"/>
              </a:lnSpc>
              <a:spcBef>
                <a:spcPts val="499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Noto Sans"/>
              <a:buChar char="•"/>
            </a:pPr>
            <a:r>
              <a:rPr b="0" i="0" lang="en-US" sz="1300" u="none" cap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Base para una app de navegación accesible.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2520" lvl="1" marL="360360" marR="0" rtl="0" algn="l">
              <a:lnSpc>
                <a:spcPct val="138461"/>
              </a:lnSpc>
              <a:spcBef>
                <a:spcPts val="499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Noto Sans"/>
              <a:buChar char="•"/>
            </a:pPr>
            <a:r>
              <a:rPr b="0" i="0" lang="en-US" sz="1300" u="none" cap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Información objetiva para administraciones y urbanismo.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2520" lvl="1" marL="360360" marR="0" rtl="0" algn="l">
              <a:lnSpc>
                <a:spcPct val="138461"/>
              </a:lnSpc>
              <a:spcBef>
                <a:spcPts val="499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Noto Sans"/>
              <a:buChar char="•"/>
            </a:pPr>
            <a:r>
              <a:rPr b="0" i="0" lang="en-US" sz="1300" u="none" cap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Contribución a ciudades más inclusivas, transitables, vivibles.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2019-07-06T14:12:49Z</dcterms:created>
  <dc:creator>Soon Yong Chang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사용자 지정</vt:lpwstr>
  </property>
  <property fmtid="{D5CDD505-2E9C-101B-9397-08002B2CF9AE}" pid="3" name="Slides">
    <vt:i4>4</vt:i4>
  </property>
</Properties>
</file>